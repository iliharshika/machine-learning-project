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1"/>
  </p:notesMasterIdLst>
  <p:handoutMasterIdLst>
    <p:handoutMasterId r:id="rId12"/>
  </p:handoutMasterIdLst>
  <p:sldIdLst>
    <p:sldId id="393" r:id="rId3"/>
    <p:sldId id="392" r:id="rId4"/>
    <p:sldId id="394" r:id="rId5"/>
    <p:sldId id="395" r:id="rId6"/>
    <p:sldId id="396" r:id="rId7"/>
    <p:sldId id="397" r:id="rId8"/>
    <p:sldId id="398" r:id="rId9"/>
    <p:sldId id="39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48D3FC-5632-4088-ACE2-C0F4F2DEB4EC}" v="10" dt="2026-08-26T10:12:01.3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95033" autoAdjust="0"/>
  </p:normalViewPr>
  <p:slideViewPr>
    <p:cSldViewPr snapToGrid="0" snapToObjects="1">
      <p:cViewPr varScale="1">
        <p:scale>
          <a:sx n="78" d="100"/>
          <a:sy n="78" d="100"/>
        </p:scale>
        <p:origin x="634" y="43"/>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3848533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29-08-2026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29-08-2026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29-08-2026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29-08-2026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29-08-2026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29-08-2026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29-08-2026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29-08-2026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29-08-2026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29-08-2026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29-08-2026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29-08-2026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29-08-2026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29-08-2026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29-08-2026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29-08-2026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29-08-2026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D71C9-B9EF-7661-6994-7DB6318AEE35}"/>
              </a:ext>
            </a:extLst>
          </p:cNvPr>
          <p:cNvSpPr>
            <a:spLocks noGrp="1"/>
          </p:cNvSpPr>
          <p:nvPr>
            <p:ph type="title"/>
          </p:nvPr>
        </p:nvSpPr>
        <p:spPr>
          <a:xfrm>
            <a:off x="1157177" y="1878345"/>
            <a:ext cx="10515600" cy="2594344"/>
          </a:xfrm>
        </p:spPr>
        <p:txBody>
          <a:bodyPr>
            <a:normAutofit/>
          </a:bodyPr>
          <a:lstStyle/>
          <a:p>
            <a:br>
              <a:rPr lang="en-IN" dirty="0"/>
            </a:br>
            <a:endParaRPr lang="en-IN" dirty="0"/>
          </a:p>
        </p:txBody>
      </p:sp>
      <p:sp>
        <p:nvSpPr>
          <p:cNvPr id="4" name="Date Placeholder 3">
            <a:extLst>
              <a:ext uri="{FF2B5EF4-FFF2-40B4-BE49-F238E27FC236}">
                <a16:creationId xmlns:a16="http://schemas.microsoft.com/office/drawing/2014/main" id="{25B756DA-BD99-3686-3F2A-02D654C567E1}"/>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5C6AE618-514B-8CF8-C225-89BC86D69A2B}"/>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5661D452-F765-BFE0-8752-3B3E2EA4B8D8}"/>
              </a:ext>
            </a:extLst>
          </p:cNvPr>
          <p:cNvSpPr>
            <a:spLocks noGrp="1"/>
          </p:cNvSpPr>
          <p:nvPr>
            <p:ph type="sldNum" sz="quarter" idx="12"/>
          </p:nvPr>
        </p:nvSpPr>
        <p:spPr/>
        <p:txBody>
          <a:bodyPr/>
          <a:lstStyle/>
          <a:p>
            <a:fld id="{B961B71F-4B40-8942-BB88-E0F5C0B46E10}" type="slidenum">
              <a:rPr lang="en-US" smtClean="0"/>
              <a:t>1</a:t>
            </a:fld>
            <a:endParaRPr lang="en-US"/>
          </a:p>
        </p:txBody>
      </p:sp>
      <p:sp>
        <p:nvSpPr>
          <p:cNvPr id="7" name="TextBox 6">
            <a:extLst>
              <a:ext uri="{FF2B5EF4-FFF2-40B4-BE49-F238E27FC236}">
                <a16:creationId xmlns:a16="http://schemas.microsoft.com/office/drawing/2014/main" id="{0BF57BB9-1479-ECEB-E8CC-92B9AC7EC218}"/>
              </a:ext>
            </a:extLst>
          </p:cNvPr>
          <p:cNvSpPr txBox="1"/>
          <p:nvPr/>
        </p:nvSpPr>
        <p:spPr>
          <a:xfrm>
            <a:off x="223284" y="1431437"/>
            <a:ext cx="11791507" cy="5632311"/>
          </a:xfrm>
          <a:prstGeom prst="rect">
            <a:avLst/>
          </a:prstGeom>
          <a:noFill/>
        </p:spPr>
        <p:txBody>
          <a:bodyPr wrap="square" rtlCol="0">
            <a:spAutoFit/>
          </a:bodyPr>
          <a:lstStyle/>
          <a:p>
            <a:pPr algn="ctr"/>
            <a:endParaRPr lang="en-IN" sz="4800" dirty="0"/>
          </a:p>
          <a:p>
            <a:pPr algn="ctr"/>
            <a:r>
              <a:rPr lang="en-IN" sz="4800" b="1" dirty="0">
                <a:latin typeface="Aptos Display" panose="020B0004020202020204" pitchFamily="34" charset="0"/>
              </a:rPr>
              <a:t>Player Statistics Visualization     </a:t>
            </a:r>
          </a:p>
          <a:p>
            <a:pPr algn="ctr"/>
            <a:r>
              <a:rPr lang="en-IN" sz="4800" b="1" dirty="0">
                <a:latin typeface="Aptos Display" panose="020B0004020202020204" pitchFamily="34" charset="0"/>
              </a:rPr>
              <a:t> using PCA &amp; UMAP</a:t>
            </a:r>
          </a:p>
          <a:p>
            <a:pPr algn="ctr"/>
            <a:endParaRPr lang="en-IN" sz="4800" dirty="0"/>
          </a:p>
          <a:p>
            <a:pPr algn="ctr"/>
            <a:endParaRPr lang="en-IN" sz="4800" dirty="0"/>
          </a:p>
          <a:p>
            <a:pPr algn="ctr"/>
            <a:endParaRPr lang="en-IN" sz="4800" dirty="0"/>
          </a:p>
          <a:p>
            <a:pPr algn="ctr"/>
            <a:r>
              <a:rPr lang="en-IN" dirty="0"/>
              <a:t>                                                                                                                                               </a:t>
            </a:r>
          </a:p>
          <a:p>
            <a:pPr algn="ctr"/>
            <a:r>
              <a:rPr lang="en-IN" dirty="0"/>
              <a:t>                                                                                                              M. Siri Chandana - 2520030603</a:t>
            </a:r>
          </a:p>
          <a:p>
            <a:pPr algn="ctr"/>
            <a:r>
              <a:rPr lang="en-IN" dirty="0"/>
              <a:t>                                                                                                      Ili. Harshika - 2520030607</a:t>
            </a:r>
          </a:p>
          <a:p>
            <a:pPr algn="ctr"/>
            <a:endParaRPr lang="en-IN" dirty="0"/>
          </a:p>
        </p:txBody>
      </p:sp>
    </p:spTree>
    <p:extLst>
      <p:ext uri="{BB962C8B-B14F-4D97-AF65-F5344CB8AC3E}">
        <p14:creationId xmlns:p14="http://schemas.microsoft.com/office/powerpoint/2010/main" val="3504563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380D8-906D-C418-92A3-D2CE4923C77D}"/>
              </a:ext>
            </a:extLst>
          </p:cNvPr>
          <p:cNvSpPr>
            <a:spLocks noGrp="1"/>
          </p:cNvSpPr>
          <p:nvPr>
            <p:ph type="title"/>
          </p:nvPr>
        </p:nvSpPr>
        <p:spPr/>
        <p:txBody>
          <a:bodyPr/>
          <a:lstStyle/>
          <a:p>
            <a:r>
              <a:rPr lang="en-IN" dirty="0"/>
              <a:t>                             </a:t>
            </a:r>
            <a:r>
              <a:rPr lang="en-IN" sz="4000" b="1" dirty="0">
                <a:latin typeface="Aptos Display" panose="020B0004020202020204" pitchFamily="34" charset="0"/>
              </a:rPr>
              <a:t>Introduction</a:t>
            </a:r>
          </a:p>
        </p:txBody>
      </p:sp>
      <p:sp>
        <p:nvSpPr>
          <p:cNvPr id="3" name="Content Placeholder 2">
            <a:extLst>
              <a:ext uri="{FF2B5EF4-FFF2-40B4-BE49-F238E27FC236}">
                <a16:creationId xmlns:a16="http://schemas.microsoft.com/office/drawing/2014/main" id="{4185C8AE-AEF7-A8E3-8311-FFAF4CADB0D6}"/>
              </a:ext>
            </a:extLst>
          </p:cNvPr>
          <p:cNvSpPr>
            <a:spLocks noGrp="1"/>
          </p:cNvSpPr>
          <p:nvPr>
            <p:ph idx="1"/>
          </p:nvPr>
        </p:nvSpPr>
        <p:spPr/>
        <p:txBody>
          <a:bodyPr>
            <a:normAutofit lnSpcReduction="10000"/>
          </a:bodyPr>
          <a:lstStyle/>
          <a:p>
            <a:pPr marL="0" indent="0" algn="just">
              <a:buNone/>
            </a:pPr>
            <a:r>
              <a:rPr lang="en-US" sz="2400" dirty="0"/>
              <a:t>Sports analytics plays an important role in evaluating player performance and supporting decision-making in football. Modern football generates large amounts of player statistics, including matches played, goals, assists, shots, passing statistics, tackles, and other performance metrics. Analyzing these multiple statistics together can be difficult and time-consuming.</a:t>
            </a:r>
          </a:p>
          <a:p>
            <a:pPr marL="0" indent="0" algn="just">
              <a:buNone/>
            </a:pPr>
            <a:r>
              <a:rPr lang="en-US" sz="2400" dirty="0"/>
              <a:t>Machine learning techniques can help simplify and visualize such complex data. In this project, Principal Component Analysis (PCA) and Uniform Manifold Approximation and Projection (UMAP) are used to reduce multiple player-performance features into a two-dimensional representation.</a:t>
            </a:r>
          </a:p>
          <a:p>
            <a:pPr marL="0" indent="0" algn="just">
              <a:buNone/>
            </a:pPr>
            <a:r>
              <a:rPr lang="en-US" sz="2400" dirty="0"/>
              <a:t>The resulting visualizations help identify similar player profiles, groups, and performance patterns. The main objective of the project is to compare PCA and UMAP and demonstrate how dimensionality reduction can make football player statistics easier to understand and analyze.</a:t>
            </a:r>
          </a:p>
          <a:p>
            <a:endParaRPr lang="en-US" dirty="0"/>
          </a:p>
          <a:p>
            <a:endParaRPr lang="en-IN" dirty="0"/>
          </a:p>
        </p:txBody>
      </p:sp>
      <p:sp>
        <p:nvSpPr>
          <p:cNvPr id="4" name="Date Placeholder 3">
            <a:extLst>
              <a:ext uri="{FF2B5EF4-FFF2-40B4-BE49-F238E27FC236}">
                <a16:creationId xmlns:a16="http://schemas.microsoft.com/office/drawing/2014/main" id="{3E0A6444-C692-E5FF-F20C-3BBE19C2E958}"/>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B7F575C1-F67B-ED7B-A85C-4B1C2B2C5F0C}"/>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E712754-58FB-1D89-EC22-FB3FB172A704}"/>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547995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DF9D-40A3-CAD0-8A40-2A8233516610}"/>
              </a:ext>
            </a:extLst>
          </p:cNvPr>
          <p:cNvSpPr>
            <a:spLocks noGrp="1"/>
          </p:cNvSpPr>
          <p:nvPr>
            <p:ph type="title"/>
          </p:nvPr>
        </p:nvSpPr>
        <p:spPr/>
        <p:txBody>
          <a:bodyPr>
            <a:normAutofit/>
          </a:bodyPr>
          <a:lstStyle/>
          <a:p>
            <a:r>
              <a:rPr lang="en-IN" sz="4000" b="1" dirty="0">
                <a:latin typeface="Aptos Display" panose="020B0004020202020204" pitchFamily="34" charset="0"/>
              </a:rPr>
              <a:t>                                          Abstract</a:t>
            </a:r>
          </a:p>
        </p:txBody>
      </p:sp>
      <p:sp>
        <p:nvSpPr>
          <p:cNvPr id="3" name="Content Placeholder 2">
            <a:extLst>
              <a:ext uri="{FF2B5EF4-FFF2-40B4-BE49-F238E27FC236}">
                <a16:creationId xmlns:a16="http://schemas.microsoft.com/office/drawing/2014/main" id="{4BC77E68-B389-6546-93CE-F9AB1653B06E}"/>
              </a:ext>
            </a:extLst>
          </p:cNvPr>
          <p:cNvSpPr>
            <a:spLocks noGrp="1"/>
          </p:cNvSpPr>
          <p:nvPr>
            <p:ph idx="1"/>
          </p:nvPr>
        </p:nvSpPr>
        <p:spPr/>
        <p:txBody>
          <a:bodyPr>
            <a:normAutofit fontScale="25000" lnSpcReduction="20000"/>
          </a:bodyPr>
          <a:lstStyle/>
          <a:p>
            <a:pPr marL="0" indent="0" algn="just">
              <a:buNone/>
            </a:pPr>
            <a:r>
              <a:rPr lang="en-US" sz="9200" dirty="0"/>
              <a:t>Sports analytics has become increasingly important for evaluating football player performance and supporting strategic decision-making. Modern football generates large amounts of player-performance data, including matches played, goals, assists, shots, passing statistics, and other metrics. Analyzing these features together can be difficult, making it challenging to identify similarities and performance patterns among players.</a:t>
            </a:r>
          </a:p>
          <a:p>
            <a:pPr marL="0" indent="0" algn="just">
              <a:buNone/>
            </a:pPr>
            <a:r>
              <a:rPr lang="en-US" sz="9200" dirty="0"/>
              <a:t>This project, “Player Statistics Visualization Using PCA and UMAP,” aims to simplify player statistics using Principal Component Analysis (PCA) and Uniform Manifold Approximation and Projection (UMAP). The selected performance features are processed and transformed into a two-dimensional representation while preserving important information from the original data.</a:t>
            </a:r>
          </a:p>
          <a:p>
            <a:pPr marL="0" indent="0" algn="just">
              <a:buNone/>
            </a:pPr>
            <a:r>
              <a:rPr lang="en-US" sz="9200" dirty="0"/>
              <a:t>The results are visualized using 2D scatter plots, where players with similar performance characteristics appear closer together. This helps identify similar player profiles and performance patterns while allowing a comparison of PCA and UMAP . The project demonstrates how dimensionality reduction and machine learning can make complex football player statistics easier to visualize, analyze, and interpret.</a:t>
            </a:r>
          </a:p>
          <a:p>
            <a:endParaRPr lang="en-IN" dirty="0"/>
          </a:p>
        </p:txBody>
      </p:sp>
      <p:sp>
        <p:nvSpPr>
          <p:cNvPr id="4" name="Date Placeholder 3">
            <a:extLst>
              <a:ext uri="{FF2B5EF4-FFF2-40B4-BE49-F238E27FC236}">
                <a16:creationId xmlns:a16="http://schemas.microsoft.com/office/drawing/2014/main" id="{F3B7808D-F866-5674-5AE5-8DA4BA8B96EB}"/>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2DBB656A-2718-0109-9D9F-05F1C423B9A0}"/>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30BC44CB-D63F-D2B5-D88D-216B27752076}"/>
              </a:ext>
            </a:extLst>
          </p:cNvPr>
          <p:cNvSpPr>
            <a:spLocks noGrp="1"/>
          </p:cNvSpPr>
          <p:nvPr>
            <p:ph type="sldNum" sz="quarter" idx="12"/>
          </p:nvPr>
        </p:nvSpPr>
        <p:spPr/>
        <p:txBody>
          <a:bodyPr/>
          <a:lstStyle/>
          <a:p>
            <a:fld id="{B961B71F-4B40-8942-BB88-E0F5C0B46E10}" type="slidenum">
              <a:rPr lang="en-US" smtClean="0"/>
              <a:t>3</a:t>
            </a:fld>
            <a:endParaRPr lang="en-US" dirty="0"/>
          </a:p>
        </p:txBody>
      </p:sp>
    </p:spTree>
    <p:extLst>
      <p:ext uri="{BB962C8B-B14F-4D97-AF65-F5344CB8AC3E}">
        <p14:creationId xmlns:p14="http://schemas.microsoft.com/office/powerpoint/2010/main" val="42406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0EB12-B1C5-EAAF-3801-24EB337241CA}"/>
              </a:ext>
            </a:extLst>
          </p:cNvPr>
          <p:cNvSpPr>
            <a:spLocks noGrp="1"/>
          </p:cNvSpPr>
          <p:nvPr>
            <p:ph type="title"/>
          </p:nvPr>
        </p:nvSpPr>
        <p:spPr/>
        <p:txBody>
          <a:bodyPr/>
          <a:lstStyle/>
          <a:p>
            <a:r>
              <a:rPr lang="en-IN" dirty="0"/>
              <a:t>                         </a:t>
            </a:r>
            <a:r>
              <a:rPr lang="en-IN" b="1" dirty="0">
                <a:latin typeface="Aptos Display" panose="020B0004020202020204" pitchFamily="34" charset="0"/>
              </a:rPr>
              <a:t>Existing System</a:t>
            </a:r>
          </a:p>
        </p:txBody>
      </p:sp>
      <p:sp>
        <p:nvSpPr>
          <p:cNvPr id="3" name="Content Placeholder 2">
            <a:extLst>
              <a:ext uri="{FF2B5EF4-FFF2-40B4-BE49-F238E27FC236}">
                <a16:creationId xmlns:a16="http://schemas.microsoft.com/office/drawing/2014/main" id="{D96D108D-51DD-DDC8-6C84-7075B3B3E6EC}"/>
              </a:ext>
            </a:extLst>
          </p:cNvPr>
          <p:cNvSpPr>
            <a:spLocks noGrp="1"/>
          </p:cNvSpPr>
          <p:nvPr>
            <p:ph idx="1"/>
          </p:nvPr>
        </p:nvSpPr>
        <p:spPr/>
        <p:txBody>
          <a:bodyPr/>
          <a:lstStyle/>
          <a:p>
            <a:pPr marL="0" indent="0" algn="just">
              <a:buNone/>
            </a:pPr>
            <a:endParaRPr lang="en-US" dirty="0"/>
          </a:p>
          <a:p>
            <a:pPr marL="0" indent="0" algn="just">
              <a:buNone/>
            </a:pPr>
            <a:r>
              <a:rPr lang="en-US" dirty="0"/>
              <a:t>Traditional football player analysis mainly relies on tables, basic charts, and individual comparisons of statistics such as goals, assists, shots, passing, and tackles. However, analyzing multiple performance features simultaneously can be complex and time-consuming, making it difficult to visualize high-dimensional data, identify similar player profiles, and discover hidden performance patterns.</a:t>
            </a:r>
          </a:p>
          <a:p>
            <a:endParaRPr lang="en-US" dirty="0"/>
          </a:p>
          <a:p>
            <a:pPr marL="0" indent="0">
              <a:buNone/>
            </a:pPr>
            <a:endParaRPr lang="en-IN" dirty="0"/>
          </a:p>
        </p:txBody>
      </p:sp>
      <p:sp>
        <p:nvSpPr>
          <p:cNvPr id="4" name="Date Placeholder 3">
            <a:extLst>
              <a:ext uri="{FF2B5EF4-FFF2-40B4-BE49-F238E27FC236}">
                <a16:creationId xmlns:a16="http://schemas.microsoft.com/office/drawing/2014/main" id="{16F6A50F-24A9-8596-5039-AD9A6BA2582C}"/>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154A01E2-1FF9-5D78-E2DE-74ABBEC8874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41E70BFE-4CC6-6B70-BE50-158E40AE1929}"/>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105023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2669-7047-A0BD-EF6C-9792A7D48C2D}"/>
              </a:ext>
            </a:extLst>
          </p:cNvPr>
          <p:cNvSpPr>
            <a:spLocks noGrp="1"/>
          </p:cNvSpPr>
          <p:nvPr>
            <p:ph type="title"/>
          </p:nvPr>
        </p:nvSpPr>
        <p:spPr/>
        <p:txBody>
          <a:bodyPr/>
          <a:lstStyle/>
          <a:p>
            <a:r>
              <a:rPr lang="en-IN" dirty="0"/>
              <a:t>                        </a:t>
            </a:r>
            <a:r>
              <a:rPr lang="en-IN" b="1" dirty="0">
                <a:latin typeface="Aptos Display" panose="020B0004020202020204" pitchFamily="34" charset="0"/>
              </a:rPr>
              <a:t>Proposed System</a:t>
            </a:r>
          </a:p>
        </p:txBody>
      </p:sp>
      <p:sp>
        <p:nvSpPr>
          <p:cNvPr id="3" name="Content Placeholder 2">
            <a:extLst>
              <a:ext uri="{FF2B5EF4-FFF2-40B4-BE49-F238E27FC236}">
                <a16:creationId xmlns:a16="http://schemas.microsoft.com/office/drawing/2014/main" id="{E98108F3-2901-7876-A61F-9E4FA3D5E98F}"/>
              </a:ext>
            </a:extLst>
          </p:cNvPr>
          <p:cNvSpPr>
            <a:spLocks noGrp="1"/>
          </p:cNvSpPr>
          <p:nvPr>
            <p:ph idx="1"/>
          </p:nvPr>
        </p:nvSpPr>
        <p:spPr/>
        <p:txBody>
          <a:bodyPr/>
          <a:lstStyle/>
          <a:p>
            <a:pPr marL="0" indent="0" algn="just">
              <a:buNone/>
            </a:pPr>
            <a:endParaRPr lang="en-US" sz="2400" dirty="0"/>
          </a:p>
          <a:p>
            <a:pPr marL="0" indent="0" algn="just">
              <a:buNone/>
            </a:pPr>
            <a:r>
              <a:rPr lang="en-US" sz="2400" dirty="0"/>
              <a:t>The proposed system uses Machine Learning-based dimensionality reduction techniques, PCA and UMAP, to simplify complex football player-performance data. The selected statistics are first preprocessed and standardized, and then transformed into a two-dimensional representation using PCA and UMAP. The resulting data is visualized through 2D scatter plots, helping to identify similar player profiles and performance patterns. Finally, the results of PCA and UMAP are compared to understand which technique provides a better representation of the player statistics.</a:t>
            </a:r>
          </a:p>
          <a:p>
            <a:endParaRPr lang="en-IN" dirty="0"/>
          </a:p>
        </p:txBody>
      </p:sp>
      <p:sp>
        <p:nvSpPr>
          <p:cNvPr id="4" name="Date Placeholder 3">
            <a:extLst>
              <a:ext uri="{FF2B5EF4-FFF2-40B4-BE49-F238E27FC236}">
                <a16:creationId xmlns:a16="http://schemas.microsoft.com/office/drawing/2014/main" id="{17B27928-16E8-E3D4-119F-F097D1BB5BE0}"/>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112CFE13-CC02-6E05-EDE1-24803FA090D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F2D16EA8-8687-0CCA-7519-DFB28C67F50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1260368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0D08-2FE0-5F1D-CB9B-2831416F9ECE}"/>
              </a:ext>
            </a:extLst>
          </p:cNvPr>
          <p:cNvSpPr>
            <a:spLocks noGrp="1"/>
          </p:cNvSpPr>
          <p:nvPr>
            <p:ph type="title"/>
          </p:nvPr>
        </p:nvSpPr>
        <p:spPr>
          <a:xfrm>
            <a:off x="838200" y="136525"/>
            <a:ext cx="10515600" cy="735345"/>
          </a:xfrm>
        </p:spPr>
        <p:txBody>
          <a:bodyPr>
            <a:normAutofit/>
          </a:bodyPr>
          <a:lstStyle/>
          <a:p>
            <a:r>
              <a:rPr lang="en-IN" dirty="0"/>
              <a:t>                           </a:t>
            </a:r>
            <a:r>
              <a:rPr lang="en-IN" b="1" dirty="0">
                <a:latin typeface="Aptos Display" panose="020B0004020202020204" pitchFamily="34" charset="0"/>
              </a:rPr>
              <a:t>Flow Diagram</a:t>
            </a:r>
          </a:p>
        </p:txBody>
      </p:sp>
      <p:pic>
        <p:nvPicPr>
          <p:cNvPr id="8" name="Content Placeholder 7">
            <a:extLst>
              <a:ext uri="{FF2B5EF4-FFF2-40B4-BE49-F238E27FC236}">
                <a16:creationId xmlns:a16="http://schemas.microsoft.com/office/drawing/2014/main" id="{C29F4F61-A2EF-A1DC-0BFF-524EB9BD79B0}"/>
              </a:ext>
            </a:extLst>
          </p:cNvPr>
          <p:cNvPicPr>
            <a:picLocks noGrp="1" noChangeAspect="1"/>
          </p:cNvPicPr>
          <p:nvPr>
            <p:ph idx="1"/>
          </p:nvPr>
        </p:nvPicPr>
        <p:blipFill>
          <a:blip r:embed="rId2"/>
          <a:stretch>
            <a:fillRect/>
          </a:stretch>
        </p:blipFill>
        <p:spPr>
          <a:xfrm>
            <a:off x="1467292" y="1285875"/>
            <a:ext cx="9175899" cy="4891088"/>
          </a:xfrm>
          <a:prstGeom prst="rect">
            <a:avLst/>
          </a:prstGeom>
        </p:spPr>
      </p:pic>
      <p:sp>
        <p:nvSpPr>
          <p:cNvPr id="4" name="Date Placeholder 3">
            <a:extLst>
              <a:ext uri="{FF2B5EF4-FFF2-40B4-BE49-F238E27FC236}">
                <a16:creationId xmlns:a16="http://schemas.microsoft.com/office/drawing/2014/main" id="{2316A2DE-CFEC-FCE9-6ED4-D3BCB01C9807}"/>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80E7809E-0D4A-9B2B-7AF0-51D5E1F82DF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6343C4C8-2626-9CFB-191F-81252A372A9F}"/>
              </a:ext>
            </a:extLst>
          </p:cNvPr>
          <p:cNvSpPr>
            <a:spLocks noGrp="1"/>
          </p:cNvSpPr>
          <p:nvPr>
            <p:ph type="sldNum" sz="quarter" idx="12"/>
          </p:nvPr>
        </p:nvSpPr>
        <p:spPr/>
        <p:txBody>
          <a:bodyPr/>
          <a:lstStyle/>
          <a:p>
            <a:fld id="{B961B71F-4B40-8942-BB88-E0F5C0B46E10}" type="slidenum">
              <a:rPr lang="en-US" smtClean="0"/>
              <a:t>6</a:t>
            </a:fld>
            <a:endParaRPr lang="en-US" dirty="0"/>
          </a:p>
        </p:txBody>
      </p:sp>
    </p:spTree>
    <p:extLst>
      <p:ext uri="{BB962C8B-B14F-4D97-AF65-F5344CB8AC3E}">
        <p14:creationId xmlns:p14="http://schemas.microsoft.com/office/powerpoint/2010/main" val="384043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D99C2-DCD4-F658-F096-32BD86CF2053}"/>
              </a:ext>
            </a:extLst>
          </p:cNvPr>
          <p:cNvSpPr>
            <a:spLocks noGrp="1"/>
          </p:cNvSpPr>
          <p:nvPr>
            <p:ph type="title"/>
          </p:nvPr>
        </p:nvSpPr>
        <p:spPr/>
        <p:txBody>
          <a:bodyPr/>
          <a:lstStyle/>
          <a:p>
            <a:r>
              <a:rPr lang="en-IN" dirty="0"/>
              <a:t>                             </a:t>
            </a:r>
            <a:r>
              <a:rPr lang="en-IN" b="1" dirty="0">
                <a:latin typeface="Aptos Display" panose="020B0004020202020204" pitchFamily="34" charset="0"/>
              </a:rPr>
              <a:t>Algorithm </a:t>
            </a:r>
          </a:p>
        </p:txBody>
      </p:sp>
      <p:sp>
        <p:nvSpPr>
          <p:cNvPr id="3" name="Content Placeholder 2">
            <a:extLst>
              <a:ext uri="{FF2B5EF4-FFF2-40B4-BE49-F238E27FC236}">
                <a16:creationId xmlns:a16="http://schemas.microsoft.com/office/drawing/2014/main" id="{4F249CBD-79D8-FC47-1BD2-C0219A1CD49C}"/>
              </a:ext>
            </a:extLst>
          </p:cNvPr>
          <p:cNvSpPr>
            <a:spLocks noGrp="1"/>
          </p:cNvSpPr>
          <p:nvPr>
            <p:ph idx="1"/>
          </p:nvPr>
        </p:nvSpPr>
        <p:spPr/>
        <p:txBody>
          <a:bodyPr>
            <a:normAutofit fontScale="55000" lnSpcReduction="20000"/>
          </a:bodyPr>
          <a:lstStyle/>
          <a:p>
            <a:pPr algn="just">
              <a:buFont typeface="Wingdings" panose="05000000000000000000" pitchFamily="2" charset="2"/>
              <a:buChar char="§"/>
            </a:pPr>
            <a:r>
              <a:rPr lang="en-US" sz="4000" dirty="0"/>
              <a:t>Load the football player statistics dataset.</a:t>
            </a:r>
          </a:p>
          <a:p>
            <a:pPr algn="just">
              <a:buFont typeface="Wingdings" panose="05000000000000000000" pitchFamily="2" charset="2"/>
              <a:buChar char="§"/>
            </a:pPr>
            <a:r>
              <a:rPr lang="en-US" sz="4000" dirty="0"/>
              <a:t>Preprocess the data by handling missing values and selecting the required player-performance features.</a:t>
            </a:r>
          </a:p>
          <a:p>
            <a:pPr algn="just">
              <a:buFont typeface="Wingdings" panose="05000000000000000000" pitchFamily="2" charset="2"/>
              <a:buChar char="§"/>
            </a:pPr>
            <a:r>
              <a:rPr lang="en-US" sz="4000" dirty="0"/>
              <a:t> Standardize the selected numerical features so that all features are on a comparable scale.</a:t>
            </a:r>
          </a:p>
          <a:p>
            <a:pPr algn="just">
              <a:buFont typeface="Wingdings" panose="05000000000000000000" pitchFamily="2" charset="2"/>
              <a:buChar char="§"/>
            </a:pPr>
            <a:r>
              <a:rPr lang="en-US" sz="4000" dirty="0"/>
              <a:t>Apply PCA (Principal Component Analysis) to reduce the high-dimensional data into two principal components.</a:t>
            </a:r>
          </a:p>
          <a:p>
            <a:pPr algn="just">
              <a:buFont typeface="Wingdings" panose="05000000000000000000" pitchFamily="2" charset="2"/>
              <a:buChar char="§"/>
            </a:pPr>
            <a:r>
              <a:rPr lang="en-US" sz="4000" dirty="0"/>
              <a:t>Apply UMAP (Uniform Manifold Approximation and Projection) to reduce the same data into two dimensions.</a:t>
            </a:r>
          </a:p>
          <a:p>
            <a:pPr algn="just">
              <a:buFont typeface="Wingdings" panose="05000000000000000000" pitchFamily="2" charset="2"/>
              <a:buChar char="§"/>
            </a:pPr>
            <a:r>
              <a:rPr lang="en-US" sz="4000" dirty="0"/>
              <a:t> Generate 2D scatter plots for both PCA and UMAP to visualize player relationships.</a:t>
            </a:r>
          </a:p>
          <a:p>
            <a:pPr algn="just">
              <a:buFont typeface="Wingdings" panose="05000000000000000000" pitchFamily="2" charset="2"/>
              <a:buChar char="§"/>
            </a:pPr>
            <a:r>
              <a:rPr lang="en-US" sz="4000" dirty="0"/>
              <a:t>Compare the PCA and UMAP visualizations to identify similar player profiles, groups, and performance patterns.</a:t>
            </a:r>
          </a:p>
          <a:p>
            <a:pPr algn="just">
              <a:buFont typeface="Wingdings" panose="05000000000000000000" pitchFamily="2" charset="2"/>
              <a:buChar char="§"/>
            </a:pPr>
            <a:r>
              <a:rPr lang="en-US" sz="4000" dirty="0"/>
              <a:t>Analyze the results and determine how effectively PCA and UMAP represent the player statistics.</a:t>
            </a:r>
          </a:p>
          <a:p>
            <a:endParaRPr lang="en-IN" dirty="0"/>
          </a:p>
        </p:txBody>
      </p:sp>
      <p:sp>
        <p:nvSpPr>
          <p:cNvPr id="4" name="Date Placeholder 3">
            <a:extLst>
              <a:ext uri="{FF2B5EF4-FFF2-40B4-BE49-F238E27FC236}">
                <a16:creationId xmlns:a16="http://schemas.microsoft.com/office/drawing/2014/main" id="{D11CA598-0BA9-192C-9B6B-AA39F5561211}"/>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937EB000-217A-72CE-1240-6D0D63BF569D}"/>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632606E1-2D18-F776-DFC4-3898B423C845}"/>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08472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679EC-10EE-3E44-574E-6582CC650B82}"/>
              </a:ext>
            </a:extLst>
          </p:cNvPr>
          <p:cNvSpPr>
            <a:spLocks noGrp="1"/>
          </p:cNvSpPr>
          <p:nvPr>
            <p:ph type="title"/>
          </p:nvPr>
        </p:nvSpPr>
        <p:spPr/>
        <p:txBody>
          <a:bodyPr/>
          <a:lstStyle/>
          <a:p>
            <a:r>
              <a:rPr lang="en-IN" b="1" dirty="0">
                <a:latin typeface="Aptos Display" panose="020B0004020202020204" pitchFamily="34" charset="0"/>
              </a:rPr>
              <a:t>                          Expected Output</a:t>
            </a:r>
          </a:p>
        </p:txBody>
      </p:sp>
      <p:sp>
        <p:nvSpPr>
          <p:cNvPr id="3" name="Content Placeholder 2">
            <a:extLst>
              <a:ext uri="{FF2B5EF4-FFF2-40B4-BE49-F238E27FC236}">
                <a16:creationId xmlns:a16="http://schemas.microsoft.com/office/drawing/2014/main" id="{02743140-6F37-A5FC-1ECF-7F08E3B55E8D}"/>
              </a:ext>
            </a:extLst>
          </p:cNvPr>
          <p:cNvSpPr>
            <a:spLocks noGrp="1"/>
          </p:cNvSpPr>
          <p:nvPr>
            <p:ph idx="1"/>
          </p:nvPr>
        </p:nvSpPr>
        <p:spPr/>
        <p:txBody>
          <a:bodyPr>
            <a:normAutofit/>
          </a:bodyPr>
          <a:lstStyle/>
          <a:p>
            <a:pPr algn="just"/>
            <a:r>
              <a:rPr lang="en-US" sz="2400" dirty="0"/>
              <a:t>The project is expected to produce 2D scatter plot visualizations of football players using PCA and UMAP.</a:t>
            </a:r>
          </a:p>
          <a:p>
            <a:pPr algn="just"/>
            <a:r>
              <a:rPr lang="en-US" sz="2400" dirty="0"/>
              <a:t>PCA Visualization: Represents players in a 2D space based on their performance statistics.</a:t>
            </a:r>
          </a:p>
          <a:p>
            <a:pPr algn="just"/>
            <a:r>
              <a:rPr lang="en-US" sz="2400" dirty="0"/>
              <a:t>UMAP Visualization: Represents player relationships and groups in a 2D space.</a:t>
            </a:r>
          </a:p>
          <a:p>
            <a:pPr algn="just"/>
            <a:r>
              <a:rPr lang="en-US" sz="2400" dirty="0"/>
              <a:t>Players with similar performance profiles are expected to appear closer together.</a:t>
            </a:r>
          </a:p>
          <a:p>
            <a:pPr algn="just"/>
            <a:r>
              <a:rPr lang="en-US" sz="2400" dirty="0"/>
              <a:t>The visualizations will help identify player groups, similarities, and performance patterns.</a:t>
            </a:r>
          </a:p>
          <a:p>
            <a:pPr algn="just"/>
            <a:r>
              <a:rPr lang="en-US" sz="2400" dirty="0"/>
              <a:t>A final comparison of PCA and UMAP will show how differently the two techniques represent the player data</a:t>
            </a:r>
            <a:endParaRPr lang="en-IN" sz="2400" dirty="0"/>
          </a:p>
        </p:txBody>
      </p:sp>
      <p:sp>
        <p:nvSpPr>
          <p:cNvPr id="4" name="Date Placeholder 3">
            <a:extLst>
              <a:ext uri="{FF2B5EF4-FFF2-40B4-BE49-F238E27FC236}">
                <a16:creationId xmlns:a16="http://schemas.microsoft.com/office/drawing/2014/main" id="{9BE2546C-8462-3EF1-EB95-06093F75E64B}"/>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9FFB730F-06E8-AD04-3147-8B424A631640}"/>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6F0AF7FD-C52F-6D17-A414-4001CB3CFBF2}"/>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888819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8688</TotalTime>
  <Words>750</Words>
  <Application>Microsoft Office PowerPoint</Application>
  <PresentationFormat>Widescreen</PresentationFormat>
  <Paragraphs>66</Paragraphs>
  <Slides>8</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 Display</vt:lpstr>
      <vt:lpstr>Arial</vt:lpstr>
      <vt:lpstr>Calibri</vt:lpstr>
      <vt:lpstr>Calibri Light</vt:lpstr>
      <vt:lpstr>Wingdings</vt:lpstr>
      <vt:lpstr>Office Theme</vt:lpstr>
      <vt:lpstr>Custom Design</vt:lpstr>
      <vt:lpstr> </vt:lpstr>
      <vt:lpstr>                             Introduction</vt:lpstr>
      <vt:lpstr>                                          Abstract</vt:lpstr>
      <vt:lpstr>                         Existing System</vt:lpstr>
      <vt:lpstr>                        Proposed System</vt:lpstr>
      <vt:lpstr>                           Flow Diagram</vt:lpstr>
      <vt:lpstr>                             Algorithm </vt:lpstr>
      <vt:lpstr>                          Expected 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Siri Chandana Mundru</cp:lastModifiedBy>
  <cp:revision>104</cp:revision>
  <dcterms:created xsi:type="dcterms:W3CDTF">2022-05-20T10:20:31Z</dcterms:created>
  <dcterms:modified xsi:type="dcterms:W3CDTF">2026-08-29T05:38:46Z</dcterms:modified>
</cp:coreProperties>
</file>